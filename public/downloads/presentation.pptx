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I'm excited to introduce you to FENIX Project Manager, our cutting-edge solution for project management. This powerful tool is designed to revolutionize the way you handle projects. As you can see on the slide, FENIX offers several key benefits. It streamlines your workflows, making project management more efficient than ever. It also provides seamless collaboration features, allowing your team to work together effectively, regardless of location. With real-time progress tracking, you'll always know exactly where your projects stand. FENIX is highly customizable, adapting to your specific needs and processes. Ultimately, all these features combine to significantly boost your team's productivity and efficiency. In the following slides, we'll dive deeper into each of these benefits and show you how FENIX can transform your project management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we'll quickly cover the main features that set our product apart. The intuitive user interface ensures that even new users can quickly adapt to the system. Our advanced analytics provide valuable insights to drive informed decision-making. With cloud integration, users can access their data from anywhere, anytime. The automated workflows significantly boost productivity by streamlining repetitive tasks. Lastly, our dedicated 24/7 customer support team is always ready to assist with any queries or issues. These features combine to create a powerful, user-friendly solution that addresses the key pain points in our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we'll explore the key features of our intuitive dashboard. The user-friendly interface allows for easy navigation and customization, ensuring that each user can tailor the dashboard to their specific needs. Real-time data visualization provides up-to-the-minute insights, while interactive charts enable deeper analysis. The dashboard also offers personalized insights and actionable recommendations, helping users make informed decisions quickly. With seamless integration capabilities, data from various sources can be consolidated into a single view. Lastly, the mobile-responsive design ensures that users can access critical information anytime, anywhere, enhancing productivity and decision-making on the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we'll explore practical strategies to simplify task management. The Eisenhower Matrix helps categorize tasks based on urgency and importance. Breaking down large projects makes them less overwhelming. The 2-minute rule suggests immediately completing tasks that take less than two minutes. Time-blocking involves dedicating specific time slots to particular tasks or types of work. Finally, regular review ensures your task list remains relevant and up-to-date. These techniques, when combined, can significantly improve productivity and reduce stress associated with managing multiple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we're covering the essential tools for effective team collaboration. Each category addresses a crucial aspect of teamwork:
1. Project management tools help organize tasks and track progress.
2. Communication platforms facilitate instant messaging and team discussions.
3. File sharing services ensure everyone has access to necessary documents.
4. Video conferencing tools enable face-to-face meetings, regardless of location.
5. Collaborative editing software allows real-time document creation and editing.
Encourage your team to discuss which tools they prefer or currently use. Emphasize that the key is not just having these tools, but using them consistently and effectively.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we'll discuss the benefits of real-time progress tracking in project management. Real-time tracking provides immediate insights into project status, allowing managers to identify issues quickly. This visibility enables proactive problem-solving and more efficient resource allocation. It also fosters better team collaboration by increasing transparency and accountability. Lastly, real-time data improves communication with stakeholders, keeping everyone aligned on project progress. Remember to emphasize how these benefits contribute to overall project success and improved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we'll discuss how our platform offers customizable workflows and templates to streamline your business processes. Our flexible workflow design allows you to create processes that perfectly match your unique needs. We offer a variety of pre-built templates for common use cases, saving you time and effort. The drag-and-drop interface makes it easy for anyone to customize these templates or create new workflows from scratch. Our platform integrates seamlessly with your existing tools and systems, ensuring a smooth transition and improved efficiency. Lastly, we've included version control and collaboration features to help your team work together effectively on workflow design and implementation. These features combine to provide a powerful, adaptable solution for managing your business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we're highlighting the key features of our mobile app designed for on-the-go management. The app provides a real-time dashboard, allowing managers to stay updated on crucial KPIs at all times. It also facilitates task delegation and progress tracking, enabling efficient workflow management from anywhere. The instant messaging and team collaboration features ensure seamless communication, while document access and editing capabilities allow for quick reviews and approvals on the move. Lastly, we've prioritized security with secure login protocols and data encryption to maintain confidentiality of sensitive business information. These features collectively empower managers to stay productive and make informed decisions, regardless of their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we're highlighting the easy steps to get started with FENIX. Emphasize the free trial as a low-risk way to explore our platform. Mention that the mobile app allows users to access FENIX on-the-go. The personalized demo is great for those who want a guided tour of features. Our documentation is regularly updated and user-friendly. Finally, stress the value of our community forum for peer support and best practices. Remember to mention our 24/7 customer support availability for any questions or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1800225"/>
            <a:ext cx="7315200" cy="771525"/>
          </a:xfrm>
          <a:prstGeom prst="rect">
            <a:avLst/>
          </a:prstGeom>
          <a:noFill/>
          <a:ln/>
        </p:spPr>
        <p:txBody>
          <a:bodyPr wrap="square" rtlCol="0" anchor="ctr"/>
          <a:lstStyle/>
          <a:p>
            <a:pPr algn="ctr" indent="0" marL="0">
              <a:buNone/>
            </a:pPr>
            <a:r>
              <a:rPr lang="en-US" sz="4400" b="1" dirty="0">
                <a:solidFill>
                  <a:srgbClr val="FF9900"/>
                </a:solidFill>
                <a:latin typeface="Amazon Ember" pitchFamily="34" charset="0"/>
                <a:ea typeface="Amazon Ember" pitchFamily="34" charset="-122"/>
                <a:cs typeface="Amazon Ember" pitchFamily="34" charset="-120"/>
              </a:rPr>
              <a:t>FENIX Project Manager Overview</a:t>
            </a:r>
            <a:endParaRPr lang="en-US" sz="4400" dirty="0"/>
          </a:p>
        </p:txBody>
      </p:sp>
      <p:sp>
        <p:nvSpPr>
          <p:cNvPr id="3" name="Text 1"/>
          <p:cNvSpPr/>
          <p:nvPr/>
        </p:nvSpPr>
        <p:spPr>
          <a:xfrm>
            <a:off x="914400" y="2674620"/>
            <a:ext cx="7315200" cy="514350"/>
          </a:xfrm>
          <a:prstGeom prst="rect">
            <a:avLst/>
          </a:prstGeom>
          <a:noFill/>
          <a:ln/>
        </p:spPr>
        <p:txBody>
          <a:bodyPr wrap="square" rtlCol="0" anchor="ctr"/>
          <a:lstStyle/>
          <a:p>
            <a:pPr algn="ctr" indent="0" marL="0">
              <a:buNone/>
            </a:pPr>
            <a:r>
              <a:rPr lang="en-US" sz="2400" dirty="0">
                <a:solidFill>
                  <a:srgbClr val="000000"/>
                </a:solidFill>
                <a:latin typeface="Amazon Ember" pitchFamily="34" charset="0"/>
                <a:ea typeface="Amazon Ember" pitchFamily="34" charset="-122"/>
                <a:cs typeface="Amazon Ember" pitchFamily="34" charset="-120"/>
              </a:rPr>
              <a:t>I want to generate a presentation introducing the FENIX project manager tool. layout is below and subject matter is clearly yourself! Create a fun and exciting display that is not too data intensive and meant to entice users to try out the new tool.</a:t>
            </a:r>
            <a:endParaRPr lang="en-US" sz="2400" dirty="0"/>
          </a:p>
        </p:txBody>
      </p:sp>
      <p:sp>
        <p:nvSpPr>
          <p:cNvPr id="4" name="Text 2"/>
          <p:cNvSpPr/>
          <p:nvPr/>
        </p:nvSpPr>
        <p:spPr>
          <a:xfrm>
            <a:off x="8686800" y="4886325"/>
            <a:ext cx="457200" cy="257175"/>
          </a:xfrm>
          <a:prstGeom prst="rect">
            <a:avLst/>
          </a:prstGeom>
          <a:noFill/>
          <a:ln/>
        </p:spPr>
        <p:txBody>
          <a:bodyPr wrap="square" rtlCol="0" anchor="ctr"/>
          <a:lstStyle/>
          <a:p>
            <a:pPr algn="r" indent="0" marL="0">
              <a:buNone/>
            </a:pPr>
            <a:r>
              <a:rPr lang="en-US" sz="1000" dirty="0">
                <a:solidFill>
                  <a:srgbClr val="000000"/>
                </a:solidFill>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7175"/>
            <a:ext cx="8229600" cy="514350"/>
          </a:xfrm>
          <a:prstGeom prst="rect">
            <a:avLst/>
          </a:prstGeom>
          <a:noFill/>
          <a:ln/>
        </p:spPr>
        <p:txBody>
          <a:bodyPr wrap="square" rtlCol="0" anchor="ctr"/>
          <a:lstStyle/>
          <a:p>
            <a:pPr indent="0" marL="0">
              <a:buNone/>
            </a:pPr>
            <a:r>
              <a:rPr lang="en-US" sz="3200" b="1" dirty="0">
                <a:solidFill>
                  <a:srgbClr val="232F3E"/>
                </a:solidFill>
                <a:latin typeface="Amazon Ember" pitchFamily="34" charset="0"/>
                <a:ea typeface="Amazon Ember" pitchFamily="34" charset="-122"/>
                <a:cs typeface="Amazon Ember" pitchFamily="34" charset="-120"/>
              </a:rPr>
              <a:t>Welcome to FENIX Project Manager</a:t>
            </a:r>
            <a:endParaRPr lang="en-US" sz="3200" dirty="0"/>
          </a:p>
        </p:txBody>
      </p:sp>
      <p:sp>
        <p:nvSpPr>
          <p:cNvPr id="3" name="Text 1"/>
          <p:cNvSpPr/>
          <p:nvPr/>
        </p:nvSpPr>
        <p:spPr>
          <a:xfrm>
            <a:off x="457200" y="925830"/>
            <a:ext cx="8229600" cy="2057400"/>
          </a:xfrm>
          <a:prstGeom prst="rect">
            <a:avLst/>
          </a:prstGeom>
          <a:noFill/>
          <a:ln/>
        </p:spPr>
        <p:txBody>
          <a:bodyPr wrap="square" rtlCol="0" anchor="ctr"/>
          <a:lstStyle/>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Streamline your project workflows</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Collaborate seamlessly with your team</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Track progress in real-time</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Customize to fit your unique needs</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Boost productivity and efficiency</a:t>
            </a:r>
            <a:endParaRPr lang="en-US" sz="1600" dirty="0"/>
          </a:p>
        </p:txBody>
      </p:sp>
      <p:sp>
        <p:nvSpPr>
          <p:cNvPr id="5" name="Text 2"/>
          <p:cNvSpPr/>
          <p:nvPr/>
        </p:nvSpPr>
        <p:spPr>
          <a:xfrm>
            <a:off x="8686800" y="4886325"/>
            <a:ext cx="457200" cy="257175"/>
          </a:xfrm>
          <a:prstGeom prst="rect">
            <a:avLst/>
          </a:prstGeom>
          <a:noFill/>
          <a:ln/>
        </p:spPr>
        <p:txBody>
          <a:bodyPr wrap="square" rtlCol="0" anchor="ctr"/>
          <a:lstStyle/>
          <a:p>
            <a:pPr algn="r" indent="0" marL="0">
              <a:buNone/>
            </a:pPr>
            <a:r>
              <a:rPr lang="en-US" sz="1000" dirty="0">
                <a:solidFill>
                  <a:srgbClr val="000000"/>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7175"/>
            <a:ext cx="8229600" cy="514350"/>
          </a:xfrm>
          <a:prstGeom prst="rect">
            <a:avLst/>
          </a:prstGeom>
          <a:noFill/>
          <a:ln/>
        </p:spPr>
        <p:txBody>
          <a:bodyPr wrap="square" rtlCol="0" anchor="ctr"/>
          <a:lstStyle/>
          <a:p>
            <a:pPr indent="0" marL="0">
              <a:buNone/>
            </a:pPr>
            <a:r>
              <a:rPr lang="en-US" sz="3200" b="1" dirty="0">
                <a:solidFill>
                  <a:srgbClr val="232F3E"/>
                </a:solidFill>
                <a:latin typeface="Amazon Ember" pitchFamily="34" charset="0"/>
                <a:ea typeface="Amazon Ember" pitchFamily="34" charset="-122"/>
                <a:cs typeface="Amazon Ember" pitchFamily="34" charset="-120"/>
              </a:rPr>
              <a:t>Key Features at a Glance</a:t>
            </a:r>
            <a:endParaRPr lang="en-US" sz="3200" dirty="0"/>
          </a:p>
        </p:txBody>
      </p:sp>
      <p:sp>
        <p:nvSpPr>
          <p:cNvPr id="3" name="Text 1"/>
          <p:cNvSpPr/>
          <p:nvPr/>
        </p:nvSpPr>
        <p:spPr>
          <a:xfrm>
            <a:off x="457200" y="925830"/>
            <a:ext cx="8229600" cy="2057400"/>
          </a:xfrm>
          <a:prstGeom prst="rect">
            <a:avLst/>
          </a:prstGeom>
          <a:noFill/>
          <a:ln/>
        </p:spPr>
        <p:txBody>
          <a:bodyPr wrap="square" rtlCol="0" anchor="ctr"/>
          <a:lstStyle/>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Intuitive User Interface: Streamlined design for easy navigation</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Advanced Analytics: Real-time data insights and customizable reports</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Cloud Integration: Seamless synchronization across devices</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Automated Workflows: Increase efficiency with smart task management</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24/7 Customer Support: Expert assistance available round-the-clock</a:t>
            </a:r>
            <a:endParaRPr lang="en-US" sz="1600" dirty="0"/>
          </a:p>
        </p:txBody>
      </p:sp>
      <p:sp>
        <p:nvSpPr>
          <p:cNvPr id="5" name="Text 2"/>
          <p:cNvSpPr/>
          <p:nvPr/>
        </p:nvSpPr>
        <p:spPr>
          <a:xfrm>
            <a:off x="8686800" y="4886325"/>
            <a:ext cx="457200" cy="257175"/>
          </a:xfrm>
          <a:prstGeom prst="rect">
            <a:avLst/>
          </a:prstGeom>
          <a:noFill/>
          <a:ln/>
        </p:spPr>
        <p:txBody>
          <a:bodyPr wrap="square" rtlCol="0" anchor="ctr"/>
          <a:lstStyle/>
          <a:p>
            <a:pPr algn="r" indent="0" marL="0">
              <a:buNone/>
            </a:pPr>
            <a:r>
              <a:rPr lang="en-US" sz="1000" dirty="0">
                <a:solidFill>
                  <a:srgbClr val="000000"/>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7175"/>
            <a:ext cx="8229600" cy="514350"/>
          </a:xfrm>
          <a:prstGeom prst="rect">
            <a:avLst/>
          </a:prstGeom>
          <a:noFill/>
          <a:ln/>
        </p:spPr>
        <p:txBody>
          <a:bodyPr wrap="square" rtlCol="0" anchor="ctr"/>
          <a:lstStyle/>
          <a:p>
            <a:pPr indent="0" marL="0">
              <a:buNone/>
            </a:pPr>
            <a:r>
              <a:rPr lang="en-US" sz="3200" b="1" dirty="0">
                <a:solidFill>
                  <a:srgbClr val="232F3E"/>
                </a:solidFill>
                <a:latin typeface="Amazon Ember" pitchFamily="34" charset="0"/>
                <a:ea typeface="Amazon Ember" pitchFamily="34" charset="-122"/>
                <a:cs typeface="Amazon Ember" pitchFamily="34" charset="-120"/>
              </a:rPr>
              <a:t>Intuitive Dashboard Overview</a:t>
            </a:r>
            <a:endParaRPr lang="en-US" sz="3200" dirty="0"/>
          </a:p>
        </p:txBody>
      </p:sp>
      <p:sp>
        <p:nvSpPr>
          <p:cNvPr id="3" name="Text 1"/>
          <p:cNvSpPr/>
          <p:nvPr/>
        </p:nvSpPr>
        <p:spPr>
          <a:xfrm>
            <a:off x="457200" y="925830"/>
            <a:ext cx="8229600" cy="2057400"/>
          </a:xfrm>
          <a:prstGeom prst="rect">
            <a:avLst/>
          </a:prstGeom>
          <a:noFill/>
          <a:ln/>
        </p:spPr>
        <p:txBody>
          <a:bodyPr wrap="square" rtlCol="0" anchor="ctr"/>
          <a:lstStyle/>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User-friendly interface with customizable widgets</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Real-time data visualization and interactive charts</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Personalized insights and actionable recommendations</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Seamless integration with multiple data sources</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Mobile-responsive design for on-the-go access</a:t>
            </a:r>
            <a:endParaRPr lang="en-US" sz="1600" dirty="0"/>
          </a:p>
        </p:txBody>
      </p:sp>
      <p:sp>
        <p:nvSpPr>
          <p:cNvPr id="5" name="Text 2"/>
          <p:cNvSpPr/>
          <p:nvPr/>
        </p:nvSpPr>
        <p:spPr>
          <a:xfrm>
            <a:off x="8686800" y="4886325"/>
            <a:ext cx="457200" cy="257175"/>
          </a:xfrm>
          <a:prstGeom prst="rect">
            <a:avLst/>
          </a:prstGeom>
          <a:noFill/>
          <a:ln/>
        </p:spPr>
        <p:txBody>
          <a:bodyPr wrap="square" rtlCol="0" anchor="ctr"/>
          <a:lstStyle/>
          <a:p>
            <a:pPr algn="r" indent="0" marL="0">
              <a:buNone/>
            </a:pPr>
            <a:r>
              <a:rPr lang="en-US" sz="1000" dirty="0">
                <a:solidFill>
                  <a:srgbClr val="000000"/>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7175"/>
            <a:ext cx="8229600" cy="514350"/>
          </a:xfrm>
          <a:prstGeom prst="rect">
            <a:avLst/>
          </a:prstGeom>
          <a:noFill/>
          <a:ln/>
        </p:spPr>
        <p:txBody>
          <a:bodyPr wrap="square" rtlCol="0" anchor="ctr"/>
          <a:lstStyle/>
          <a:p>
            <a:pPr indent="0" marL="0">
              <a:buNone/>
            </a:pPr>
            <a:r>
              <a:rPr lang="en-US" sz="3200" b="1" dirty="0">
                <a:solidFill>
                  <a:srgbClr val="232F3E"/>
                </a:solidFill>
                <a:latin typeface="Amazon Ember" pitchFamily="34" charset="0"/>
                <a:ea typeface="Amazon Ember" pitchFamily="34" charset="-122"/>
                <a:cs typeface="Amazon Ember" pitchFamily="34" charset="-120"/>
              </a:rPr>
              <a:t>Task Management Made Simple</a:t>
            </a:r>
            <a:endParaRPr lang="en-US" sz="3200" dirty="0"/>
          </a:p>
        </p:txBody>
      </p:sp>
      <p:sp>
        <p:nvSpPr>
          <p:cNvPr id="3" name="Text 1"/>
          <p:cNvSpPr/>
          <p:nvPr/>
        </p:nvSpPr>
        <p:spPr>
          <a:xfrm>
            <a:off x="457200" y="925830"/>
            <a:ext cx="8229600" cy="2057400"/>
          </a:xfrm>
          <a:prstGeom prst="rect">
            <a:avLst/>
          </a:prstGeom>
          <a:noFill/>
          <a:ln/>
        </p:spPr>
        <p:txBody>
          <a:bodyPr wrap="square" rtlCol="0" anchor="ctr"/>
          <a:lstStyle/>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Prioritize tasks using the Eisenhower Matrix</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Break large projects into smaller, manageable steps</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Use the 2-minute rule for quick tasks</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Implement time-blocking techniques</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Regularly review and update your task list</a:t>
            </a:r>
            <a:endParaRPr lang="en-US" sz="1600" dirty="0"/>
          </a:p>
        </p:txBody>
      </p:sp>
      <p:sp>
        <p:nvSpPr>
          <p:cNvPr id="5" name="Text 2"/>
          <p:cNvSpPr/>
          <p:nvPr/>
        </p:nvSpPr>
        <p:spPr>
          <a:xfrm>
            <a:off x="8686800" y="4886325"/>
            <a:ext cx="457200" cy="257175"/>
          </a:xfrm>
          <a:prstGeom prst="rect">
            <a:avLst/>
          </a:prstGeom>
          <a:noFill/>
          <a:ln/>
        </p:spPr>
        <p:txBody>
          <a:bodyPr wrap="square" rtlCol="0" anchor="ctr"/>
          <a:lstStyle/>
          <a:p>
            <a:pPr algn="r" indent="0" marL="0">
              <a:buNone/>
            </a:pPr>
            <a:r>
              <a:rPr lang="en-US" sz="1000" dirty="0">
                <a:solidFill>
                  <a:srgbClr val="000000"/>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7175"/>
            <a:ext cx="8229600" cy="514350"/>
          </a:xfrm>
          <a:prstGeom prst="rect">
            <a:avLst/>
          </a:prstGeom>
          <a:noFill/>
          <a:ln/>
        </p:spPr>
        <p:txBody>
          <a:bodyPr wrap="square" rtlCol="0" anchor="ctr"/>
          <a:lstStyle/>
          <a:p>
            <a:pPr indent="0" marL="0">
              <a:buNone/>
            </a:pPr>
            <a:r>
              <a:rPr lang="en-US" sz="3200" b="1" dirty="0">
                <a:solidFill>
                  <a:srgbClr val="232F3E"/>
                </a:solidFill>
                <a:latin typeface="Amazon Ember" pitchFamily="34" charset="0"/>
                <a:ea typeface="Amazon Ember" pitchFamily="34" charset="-122"/>
                <a:cs typeface="Amazon Ember" pitchFamily="34" charset="-120"/>
              </a:rPr>
              <a:t>Essential Team Collaboration Tools</a:t>
            </a:r>
            <a:endParaRPr lang="en-US" sz="3200" dirty="0"/>
          </a:p>
        </p:txBody>
      </p:sp>
      <p:sp>
        <p:nvSpPr>
          <p:cNvPr id="3" name="Text 1"/>
          <p:cNvSpPr/>
          <p:nvPr/>
        </p:nvSpPr>
        <p:spPr>
          <a:xfrm>
            <a:off x="457200" y="925830"/>
            <a:ext cx="8229600" cy="2057400"/>
          </a:xfrm>
          <a:prstGeom prst="rect">
            <a:avLst/>
          </a:prstGeom>
          <a:noFill/>
          <a:ln/>
        </p:spPr>
        <p:txBody>
          <a:bodyPr wrap="square" rtlCol="0" anchor="ctr"/>
          <a:lstStyle/>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Project Management: Asana, Trello, or Jira</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Communication: Slack, Microsoft Teams, or Discord</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File Sharing: Google Drive, Dropbox, or OneDrive</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Video Conferencing: Zoom, Google Meet, or Webex</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Collaborative Editing: Google Docs, Microsoft 365, or Notion</a:t>
            </a:r>
            <a:endParaRPr lang="en-US" sz="1600" dirty="0"/>
          </a:p>
        </p:txBody>
      </p:sp>
      <p:sp>
        <p:nvSpPr>
          <p:cNvPr id="5" name="Text 2"/>
          <p:cNvSpPr/>
          <p:nvPr/>
        </p:nvSpPr>
        <p:spPr>
          <a:xfrm>
            <a:off x="8686800" y="4886325"/>
            <a:ext cx="457200" cy="257175"/>
          </a:xfrm>
          <a:prstGeom prst="rect">
            <a:avLst/>
          </a:prstGeom>
          <a:noFill/>
          <a:ln/>
        </p:spPr>
        <p:txBody>
          <a:bodyPr wrap="square" rtlCol="0" anchor="ctr"/>
          <a:lstStyle/>
          <a:p>
            <a:pPr algn="r" indent="0" marL="0">
              <a:buNone/>
            </a:pPr>
            <a:r>
              <a:rPr lang="en-US" sz="1000" dirty="0">
                <a:solidFill>
                  <a:srgbClr val="000000"/>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7175"/>
            <a:ext cx="8229600" cy="514350"/>
          </a:xfrm>
          <a:prstGeom prst="rect">
            <a:avLst/>
          </a:prstGeom>
          <a:noFill/>
          <a:ln/>
        </p:spPr>
        <p:txBody>
          <a:bodyPr wrap="square" rtlCol="0" anchor="ctr"/>
          <a:lstStyle/>
          <a:p>
            <a:pPr indent="0" marL="0">
              <a:buNone/>
            </a:pPr>
            <a:r>
              <a:rPr lang="en-US" sz="3200" b="1" dirty="0">
                <a:solidFill>
                  <a:srgbClr val="232F3E"/>
                </a:solidFill>
                <a:latin typeface="Amazon Ember" pitchFamily="34" charset="0"/>
                <a:ea typeface="Amazon Ember" pitchFamily="34" charset="-122"/>
                <a:cs typeface="Amazon Ember" pitchFamily="34" charset="-120"/>
              </a:rPr>
              <a:t>Real-time Progress Tracking: Empowering Project Success</a:t>
            </a:r>
            <a:endParaRPr lang="en-US" sz="3200" dirty="0"/>
          </a:p>
        </p:txBody>
      </p:sp>
      <p:sp>
        <p:nvSpPr>
          <p:cNvPr id="3" name="Text 1"/>
          <p:cNvSpPr/>
          <p:nvPr/>
        </p:nvSpPr>
        <p:spPr>
          <a:xfrm>
            <a:off x="457200" y="925830"/>
            <a:ext cx="8229600" cy="2057400"/>
          </a:xfrm>
          <a:prstGeom prst="rect">
            <a:avLst/>
          </a:prstGeom>
          <a:noFill/>
          <a:ln/>
        </p:spPr>
        <p:txBody>
          <a:bodyPr wrap="square" rtlCol="0" anchor="ctr"/>
          <a:lstStyle/>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Continuous visibility into project status</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Instant identification of bottlenecks and delays</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Data-driven decision making for resource allocation</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Improved team collaboration and accountability</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Enhanced stakeholder communication</a:t>
            </a:r>
            <a:endParaRPr lang="en-US" sz="1600" dirty="0"/>
          </a:p>
        </p:txBody>
      </p:sp>
      <p:sp>
        <p:nvSpPr>
          <p:cNvPr id="5" name="Text 2"/>
          <p:cNvSpPr/>
          <p:nvPr/>
        </p:nvSpPr>
        <p:spPr>
          <a:xfrm>
            <a:off x="8686800" y="4886325"/>
            <a:ext cx="457200" cy="257175"/>
          </a:xfrm>
          <a:prstGeom prst="rect">
            <a:avLst/>
          </a:prstGeom>
          <a:noFill/>
          <a:ln/>
        </p:spPr>
        <p:txBody>
          <a:bodyPr wrap="square" rtlCol="0" anchor="ctr"/>
          <a:lstStyle/>
          <a:p>
            <a:pPr algn="r" indent="0" marL="0">
              <a:buNone/>
            </a:pPr>
            <a:r>
              <a:rPr lang="en-US" sz="1000" dirty="0">
                <a:solidFill>
                  <a:srgbClr val="000000"/>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7175"/>
            <a:ext cx="8229600" cy="514350"/>
          </a:xfrm>
          <a:prstGeom prst="rect">
            <a:avLst/>
          </a:prstGeom>
          <a:noFill/>
          <a:ln/>
        </p:spPr>
        <p:txBody>
          <a:bodyPr wrap="square" rtlCol="0" anchor="ctr"/>
          <a:lstStyle/>
          <a:p>
            <a:pPr indent="0" marL="0">
              <a:buNone/>
            </a:pPr>
            <a:r>
              <a:rPr lang="en-US" sz="3200" b="1" dirty="0">
                <a:solidFill>
                  <a:srgbClr val="232F3E"/>
                </a:solidFill>
                <a:latin typeface="Amazon Ember" pitchFamily="34" charset="0"/>
                <a:ea typeface="Amazon Ember" pitchFamily="34" charset="-122"/>
                <a:cs typeface="Amazon Ember" pitchFamily="34" charset="-120"/>
              </a:rPr>
              <a:t>Customizable Workflows and Templates</a:t>
            </a:r>
            <a:endParaRPr lang="en-US" sz="3200" dirty="0"/>
          </a:p>
        </p:txBody>
      </p:sp>
      <p:sp>
        <p:nvSpPr>
          <p:cNvPr id="3" name="Text 1"/>
          <p:cNvSpPr/>
          <p:nvPr/>
        </p:nvSpPr>
        <p:spPr>
          <a:xfrm>
            <a:off x="457200" y="925830"/>
            <a:ext cx="8229600" cy="2057400"/>
          </a:xfrm>
          <a:prstGeom prst="rect">
            <a:avLst/>
          </a:prstGeom>
          <a:noFill/>
          <a:ln/>
        </p:spPr>
        <p:txBody>
          <a:bodyPr wrap="square" rtlCol="0" anchor="ctr"/>
          <a:lstStyle/>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Flexible workflow design to match your processes</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Pre-built templates for common use cases</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Drag-and-drop interface for easy customization</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Integration with existing tools and systems</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Version control and collaboration features</a:t>
            </a:r>
            <a:endParaRPr lang="en-US" sz="1600" dirty="0"/>
          </a:p>
        </p:txBody>
      </p:sp>
      <p:sp>
        <p:nvSpPr>
          <p:cNvPr id="5" name="Text 2"/>
          <p:cNvSpPr/>
          <p:nvPr/>
        </p:nvSpPr>
        <p:spPr>
          <a:xfrm>
            <a:off x="8686800" y="4886325"/>
            <a:ext cx="457200" cy="257175"/>
          </a:xfrm>
          <a:prstGeom prst="rect">
            <a:avLst/>
          </a:prstGeom>
          <a:noFill/>
          <a:ln/>
        </p:spPr>
        <p:txBody>
          <a:bodyPr wrap="square" rtlCol="0" anchor="ctr"/>
          <a:lstStyle/>
          <a:p>
            <a:pPr algn="r" indent="0" marL="0">
              <a:buNone/>
            </a:pPr>
            <a:r>
              <a:rPr lang="en-US" sz="1000" dirty="0">
                <a:solidFill>
                  <a:srgbClr val="000000"/>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7175"/>
            <a:ext cx="8229600" cy="514350"/>
          </a:xfrm>
          <a:prstGeom prst="rect">
            <a:avLst/>
          </a:prstGeom>
          <a:noFill/>
          <a:ln/>
        </p:spPr>
        <p:txBody>
          <a:bodyPr wrap="square" rtlCol="0" anchor="ctr"/>
          <a:lstStyle/>
          <a:p>
            <a:pPr indent="0" marL="0">
              <a:buNone/>
            </a:pPr>
            <a:r>
              <a:rPr lang="en-US" sz="3200" b="1" dirty="0">
                <a:solidFill>
                  <a:srgbClr val="232F3E"/>
                </a:solidFill>
                <a:latin typeface="Amazon Ember" pitchFamily="34" charset="0"/>
                <a:ea typeface="Amazon Ember" pitchFamily="34" charset="-122"/>
                <a:cs typeface="Amazon Ember" pitchFamily="34" charset="-120"/>
              </a:rPr>
              <a:t>Mobile App: Empowering On-the-Go Management</a:t>
            </a:r>
            <a:endParaRPr lang="en-US" sz="3200" dirty="0"/>
          </a:p>
        </p:txBody>
      </p:sp>
      <p:sp>
        <p:nvSpPr>
          <p:cNvPr id="3" name="Text 1"/>
          <p:cNvSpPr/>
          <p:nvPr/>
        </p:nvSpPr>
        <p:spPr>
          <a:xfrm>
            <a:off x="457200" y="925830"/>
            <a:ext cx="8229600" cy="2057400"/>
          </a:xfrm>
          <a:prstGeom prst="rect">
            <a:avLst/>
          </a:prstGeom>
          <a:noFill/>
          <a:ln/>
        </p:spPr>
        <p:txBody>
          <a:bodyPr wrap="square" rtlCol="0" anchor="ctr"/>
          <a:lstStyle/>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Real-time dashboard for key performance indicators</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Task delegation and progress tracking</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Instant messaging and team collaboration</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Document access and editing capabilities</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Secure login and data encryption for confidentiality</a:t>
            </a:r>
            <a:endParaRPr lang="en-US" sz="1600" dirty="0"/>
          </a:p>
        </p:txBody>
      </p:sp>
      <p:sp>
        <p:nvSpPr>
          <p:cNvPr id="5" name="Text 2"/>
          <p:cNvSpPr/>
          <p:nvPr/>
        </p:nvSpPr>
        <p:spPr>
          <a:xfrm>
            <a:off x="8686800" y="4886325"/>
            <a:ext cx="457200" cy="257175"/>
          </a:xfrm>
          <a:prstGeom prst="rect">
            <a:avLst/>
          </a:prstGeom>
          <a:noFill/>
          <a:ln/>
        </p:spPr>
        <p:txBody>
          <a:bodyPr wrap="square" rtlCol="0" anchor="ctr"/>
          <a:lstStyle/>
          <a:p>
            <a:pPr algn="r" indent="0" marL="0">
              <a:buNone/>
            </a:pPr>
            <a:r>
              <a:rPr lang="en-US" sz="1000" dirty="0">
                <a:solidFill>
                  <a:srgbClr val="000000"/>
                </a:solidFill>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7175"/>
            <a:ext cx="8229600" cy="514350"/>
          </a:xfrm>
          <a:prstGeom prst="rect">
            <a:avLst/>
          </a:prstGeom>
          <a:noFill/>
          <a:ln/>
        </p:spPr>
        <p:txBody>
          <a:bodyPr wrap="square" rtlCol="0" anchor="ctr"/>
          <a:lstStyle/>
          <a:p>
            <a:pPr indent="0" marL="0">
              <a:buNone/>
            </a:pPr>
            <a:r>
              <a:rPr lang="en-US" sz="3200" b="1" dirty="0">
                <a:solidFill>
                  <a:srgbClr val="232F3E"/>
                </a:solidFill>
                <a:latin typeface="Amazon Ember" pitchFamily="34" charset="0"/>
                <a:ea typeface="Amazon Ember" pitchFamily="34" charset="-122"/>
                <a:cs typeface="Amazon Ember" pitchFamily="34" charset="-120"/>
              </a:rPr>
              <a:t>Get Started with FENIX Today</a:t>
            </a:r>
            <a:endParaRPr lang="en-US" sz="3200" dirty="0"/>
          </a:p>
        </p:txBody>
      </p:sp>
      <p:sp>
        <p:nvSpPr>
          <p:cNvPr id="3" name="Text 1"/>
          <p:cNvSpPr/>
          <p:nvPr/>
        </p:nvSpPr>
        <p:spPr>
          <a:xfrm>
            <a:off x="457200" y="925830"/>
            <a:ext cx="8229600" cy="2057400"/>
          </a:xfrm>
          <a:prstGeom prst="rect">
            <a:avLst/>
          </a:prstGeom>
          <a:noFill/>
          <a:ln/>
        </p:spPr>
        <p:txBody>
          <a:bodyPr wrap="square" rtlCol="0" anchor="ctr"/>
          <a:lstStyle/>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Sign up for a free 30-day trial at fenix.com</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Download the FENIX mobile app for iOS or Android</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Schedule a personalized demo with our team</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Explore our comprehensive online documentation</a:t>
            </a:r>
            <a:endParaRPr lang="en-US" sz="1600" dirty="0"/>
          </a:p>
          <a:p>
            <a:pPr marL="342900" indent="-342900">
              <a:buSzPct val="100000"/>
              <a:buChar char="•"/>
            </a:pPr>
            <a:r>
              <a:rPr lang="en-US" sz="1600" dirty="0">
                <a:solidFill>
                  <a:srgbClr val="000000"/>
                </a:solidFill>
                <a:latin typeface="Amazon Ember" pitchFamily="34" charset="0"/>
                <a:ea typeface="Amazon Ember" pitchFamily="34" charset="-122"/>
                <a:cs typeface="Amazon Ember" pitchFamily="34" charset="-120"/>
              </a:rPr>
              <a:t>Join the FENIX community forum for tips and support</a:t>
            </a:r>
            <a:endParaRPr lang="en-US" sz="1600" dirty="0"/>
          </a:p>
        </p:txBody>
      </p:sp>
      <p:sp>
        <p:nvSpPr>
          <p:cNvPr id="5" name="Text 2"/>
          <p:cNvSpPr/>
          <p:nvPr/>
        </p:nvSpPr>
        <p:spPr>
          <a:xfrm>
            <a:off x="8686800" y="4886325"/>
            <a:ext cx="457200" cy="257175"/>
          </a:xfrm>
          <a:prstGeom prst="rect">
            <a:avLst/>
          </a:prstGeom>
          <a:noFill/>
          <a:ln/>
        </p:spPr>
        <p:txBody>
          <a:bodyPr wrap="square" rtlCol="0" anchor="ctr"/>
          <a:lstStyle/>
          <a:p>
            <a:pPr algn="r" indent="0" marL="0">
              <a:buNone/>
            </a:pPr>
            <a:r>
              <a:rPr lang="en-US" sz="1000" dirty="0">
                <a:solidFill>
                  <a:srgbClr val="000000"/>
                </a:solidFill>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Amazon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FENIX Project Manager Overview</dc:title>
  <dc:subject/>
  <dc:creator>FENIX Project Manager</dc:creator>
  <cp:lastModifiedBy>FENIX Project Manager</cp:lastModifiedBy>
  <cp:revision>1</cp:revision>
  <dcterms:created xsi:type="dcterms:W3CDTF">2026-01-07T10:42:39Z</dcterms:created>
  <dcterms:modified xsi:type="dcterms:W3CDTF">2026-01-07T10:42:39Z</dcterms:modified>
</cp:coreProperties>
</file>